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皆さん、こんにちは。社労士の柏木です。今日は90分、36協定の話をします。</a:t>
            </a:r>
          </a:p>
          <a:p>
            <a:r>
              <a:t>最初にひとつだけ質問させてください。36協定、最後に見たのはいつですか? 手を挙げなくて大丈夫です。心の中でどうぞ。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ここは笑いを取るところ。免許と運転のたとえ話。家計簿でも言い換えられる(届出=予算、実績=家計簿)。</a:t>
            </a:r>
          </a:p>
          <a:p>
            <a:r>
              <a:t>会場の前列にいらした 株式会社サンプル商事 様 の総務 山田 花子 様 に、先月の相談の話を振る(了承済み)。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ポイントは3つです、と必ず言う。指を3本立てる。上限の数字の直前に「ここ、テストに出ます」と言う。数字は黒板(ホワイトボード)に書き出して、あとで消さない。</a:t>
            </a:r>
          </a:p>
          <a:p>
            <a:r>
              <a:t>出典: 厚生労働省のリーフレット「時間外労働の上限規制 わかりやすい解説」(スライド右下に毎回出す。ここでは出典URLの記載なし→過去資料の弱点)。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表で見せる。特別条項は『臨時的な特別の事情』が必要、と一言添える。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〇✕クイズ。会場に挙手させる。8割が〇に挙げるのでそこで『実は✕です』と間を置く。</a:t>
            </a:r>
          </a:p>
          <a:p>
            <a:r>
              <a:t>相談事例: サンプル商事 様(山田 花子 様 / 携帯 090-0000-1234 / hanako.yamada@example.com / 〒000-0002 例県サンプル市見本町4-5-6 従業員28名)は繁忙期に月60時間超が3か月続いた。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『全部やってください』とは絶対に言わない。持ち帰りは1つだけ、という約束を守る。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最後の一言は毎回これ。声のトーンを落として、ゆっくり。笑顔で締める。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事務所の連絡先(事務所自身の情報)。最後に名刺を配る。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F3A5F"/>
                </a:solidFill>
                <a:latin typeface="Yu Gothic"/>
              </a:rPr>
              <a:t>36協定、出していれば安心? ― 2025年版・中小企業の時間外労働ルール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講師: 特定社会保険労務士 柏木 遼(つきがおか労務オフィス)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2025年9月 商工会 労務セミナー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F3A5F"/>
                </a:solidFill>
                <a:latin typeface="Yu Gothic"/>
              </a:rPr>
              <a:t>Q. 御社の36協定、最後に見たのはいつですか?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突然ですが、届出は出しっぱなしになっていませんか?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ざっくり言うと、届出は「免許」、毎月の運用は「運転」です。免許があっても、運転が荒ければ捕まります。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66666"/>
                </a:solidFill>
                <a:latin typeface="Yu Gothic"/>
              </a:rPr>
              <a:t>※2025年9月時点の情報です。最新は必ず厚生労働省の資料でご確認ください。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F3A5F"/>
                </a:solidFill>
                <a:latin typeface="Yu Gothic"/>
              </a:rPr>
              <a:t>ポイントは3つ ― 上限・特別条項・記録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1. 原則の上限は 月45時間・年360時間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2. 特別条項があっても、年720時間・単月100時間未満(休日労働含む)・2〜6か月平均80時間以内・月45時間超は年6回まで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3. 守れているかは「記録」で決まる(タイムカード・PCログ)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66666"/>
                </a:solidFill>
                <a:latin typeface="Yu Gothic"/>
              </a:rPr>
              <a:t>※2025年9月時点の情報です。最新は必ず厚生労働省の資料でご確認ください。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F3A5F"/>
                </a:solidFill>
                <a:latin typeface="Yu Gothic"/>
              </a:rPr>
              <a:t>原則と特別条項、どこが違う?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329184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Yu Gothic"/>
                        </a:rPr>
                        <a:t>原則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Yu Gothic"/>
                        </a:rPr>
                        <a:t>特別条項つき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>
                          <a:latin typeface="Yu Gothic"/>
                        </a:rPr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Yu Gothic"/>
                        </a:rPr>
                        <a:t>45時間まで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Yu Gothic"/>
                        </a:rPr>
                        <a:t>100時間未満(休日労働含む)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>
                          <a:latin typeface="Yu Gothic"/>
                        </a:rPr>
                        <a:t>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Yu Gothic"/>
                        </a:rPr>
                        <a:t>360時間まで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Yu Gothic"/>
                        </a:rPr>
                        <a:t>720時間まで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>
                          <a:latin typeface="Yu Gothic"/>
                        </a:rPr>
                        <a:t>回数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Yu Gothic"/>
                        </a:rPr>
                        <a:t>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Yu Gothic"/>
                        </a:rPr>
                        <a:t>月45時間超は年6回まで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66666"/>
                </a:solidFill>
                <a:latin typeface="Yu Gothic"/>
              </a:rPr>
              <a:t>※2025年9月時点の情報です。最新は必ず厚生労働省の資料でご確認ください。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F3A5F"/>
                </a:solidFill>
                <a:latin typeface="Yu Gothic"/>
              </a:rPr>
              <a:t>【落とし穴】特別条項があれば、いつでも月80時間OK? 〇か✕か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答えは ✕ です。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2〜6か月の平均が80時間以内、という縛りが別にあります。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「ひと月ならセーフ」で安心すると、平均でアウトになります。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66666"/>
                </a:solidFill>
                <a:latin typeface="Yu Gothic"/>
              </a:rPr>
              <a:t>※2025年9月時点の情報です。最新は必ず厚生労働省の資料でご確認ください。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F3A5F"/>
                </a:solidFill>
                <a:latin typeface="Yu Gothic"/>
              </a:rPr>
              <a:t>今日持ち帰るのは、1つだけ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自社の36協定を開いて、「有効期間」と「上限の数字」に付箋を貼る。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ざっくり言うと、それだけで来月の自分がラクになります。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66666"/>
                </a:solidFill>
                <a:latin typeface="Yu Gothic"/>
              </a:rPr>
              <a:t>※2025年9月時点の情報です。最新は必ず厚生労働省の資料でご確認ください。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F3A5F"/>
                </a:solidFill>
                <a:latin typeface="Yu Gothic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迷ったら、まず相談。小さいうちなら、だいたい安く済みます。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66666"/>
                </a:solidFill>
                <a:latin typeface="Yu Gothic"/>
              </a:rPr>
              <a:t>※2025年9月時点の情報です。最新は必ず厚生労働省の資料でご確認ください。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1F3A5F"/>
                </a:solidFill>
                <a:latin typeface="Yu Gothic"/>
              </a:rPr>
              <a:t>ご相談はお気軽に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つきがおか労務オフィス  代表 柏木 遼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〒000-0001 例県サンプル市見本町1-2-3 サンプルビル2F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TEL 050-0000-0100 / 携帯 090-0000-0001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22222"/>
                </a:solidFill>
                <a:latin typeface="Yu Gothic"/>
              </a:rPr>
              <a:t>info@tsukigaoka-romu.example.com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36協定セミナー資料 2025年版(架空サンプル)</dc:title>
  <dc:subject/>
  <dc:creator>つきがおか労務オフィス(架空)</dc:creator>
  <cp:keywords/>
  <dc:description>FICTIONAL fixture for shiryo-kit tests. All names, numbers, addresses are invented.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